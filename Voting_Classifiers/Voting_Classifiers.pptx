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E7351-B40A-AAF2-1D61-CC5864A4B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E0CA09-16E6-6999-74D6-63147B9C25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6D902-C132-21FC-B243-6E7963456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96AB-4C1A-49B7-B49C-556BB58C9ED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C3C99-C9C1-B682-6E0C-72A69DBEC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8B144-EF67-1F6D-0FD9-F3289E01E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52697-52D0-49CE-B5BC-54C29F0C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142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7B424-CC33-B347-9599-ABC2410B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62F95-C5C4-5AE8-3473-B56C68DAD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22A38-4B85-4BEA-C852-7BAFB299C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96AB-4C1A-49B7-B49C-556BB58C9ED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6D564-B8C2-A015-16FC-CD478D9DE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0FC9F-FBF2-E578-AA67-25F2F67AB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52697-52D0-49CE-B5BC-54C29F0C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178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DAB15-E9ED-D991-95BC-8E516400D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2646B-C31F-F9E9-7ABD-25C2E7CA7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84C32-CBC1-FFFF-8D20-1C3AA018A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96AB-4C1A-49B7-B49C-556BB58C9ED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44C4A-1964-A7BC-15F9-5ACC3E58C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5EDEB-FE1A-A815-3BA6-42FDF420A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52697-52D0-49CE-B5BC-54C29F0C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785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6849D-D522-917F-5F0B-D23A1B040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2E572-F99F-805D-B0BC-6FB8FA4B6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DFD6DD-0518-8CA9-9BC5-2AFD27360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430B1-2BCA-B1CE-16E5-913986AE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96AB-4C1A-49B7-B49C-556BB58C9ED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07F94-E9A3-9B19-EB5F-6EBF318A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B6783-3591-19F5-092A-9AEBA5D30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52697-52D0-49CE-B5BC-54C29F0C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227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C6143-C287-625C-337E-9F71C38A1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F0678-9C0E-1AC2-F79F-E4C6DB14B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62E64C-669E-9C5E-87D8-95C99B79A5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131CB1-8AA0-5664-FE05-6E276171D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229FE1-CEE7-2E65-1BAB-355F224AB1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9298D9-78B5-2F44-19DA-99609EC0F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96AB-4C1A-49B7-B49C-556BB58C9ED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5F0BE1-4369-19BA-3D4F-C44DEF86B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A8BA69-B001-1142-852C-345713362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52697-52D0-49CE-B5BC-54C29F0C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591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9C88-735A-AA78-E8F5-F481A8712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7E2308-E439-D7B1-F587-E39C185C3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96AB-4C1A-49B7-B49C-556BB58C9ED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2F543E-C4CA-7F7B-E820-B9C7D6156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FDFEB-A7EF-0CBB-C0D1-81588D84A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52697-52D0-49CE-B5BC-54C29F0C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452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D47C12-D717-CA68-737C-00AC80258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96AB-4C1A-49B7-B49C-556BB58C9ED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308F79-3B32-E06F-C2CB-E30B861CF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2B07B-4F86-B576-C521-5784CEE84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52697-52D0-49CE-B5BC-54C29F0C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406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49A46-4B4B-E1B3-12A8-32C393289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0CA1D-179A-33C1-0B14-D050E427D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B8167-2C91-CF9C-FD4C-727E42DD35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8B9DD5-6C97-6BB8-5DF1-BEE3FE53F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96AB-4C1A-49B7-B49C-556BB58C9ED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97C5C-FB3B-4282-982E-4C2F0ECFF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7F7BB8-7F4B-A29A-8CDB-C10ED1E8E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52697-52D0-49CE-B5BC-54C29F0C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869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AEE72-2228-134F-1484-8E5050113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7F955C-CF4C-80FB-F341-905A63CE34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BC9F50-4A8F-1B43-0685-2609143884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E69B41-D01D-2DA6-9C1B-6F0E58329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96AB-4C1A-49B7-B49C-556BB58C9ED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42D80-41F4-BD70-8966-DE7C5E604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BD66E1-32B1-8655-C66A-C88EE2DFB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52697-52D0-49CE-B5BC-54C29F0C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281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3DA8F-1B18-3A2C-44C1-D7693FF02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DD2C1A-B587-24A5-CD27-69061B41A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81842-B6C5-4682-5A5C-FA2213E05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96AB-4C1A-49B7-B49C-556BB58C9ED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8E0D3-FF09-1C7D-7715-7A37FC84E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F3D96-520A-345C-5D42-DDB2DECA5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52697-52D0-49CE-B5BC-54C29F0C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042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8431BA-E21E-314C-256C-D47C621F4C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0D832A-3E25-BCFB-48FE-54AABD1FCE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95550-2235-A87C-4D0D-9B7638FDD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96AB-4C1A-49B7-B49C-556BB58C9ED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7F53E-9AE1-9ABF-1563-B88069F34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1DEA3-E649-DA74-C5E2-B68A5895C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52697-52D0-49CE-B5BC-54C29F0C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077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11B305-7B34-FEFA-F556-6CF599E16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660482-266B-59CA-CD17-4F330BDA4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9DCC1-B612-2A7D-7461-6D0F7B9BCC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896AB-4C1A-49B7-B49C-556BB58C9ED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44362-0F4B-2BA7-A776-279EDE7EA4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EA548-4537-8B12-CB43-4C3AF9779D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A52697-52D0-49CE-B5BC-54C29F0C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883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13B585-D2E0-E6E6-174B-1DA4C58E9B84}"/>
              </a:ext>
            </a:extLst>
          </p:cNvPr>
          <p:cNvSpPr txBox="1"/>
          <p:nvPr/>
        </p:nvSpPr>
        <p:spPr>
          <a:xfrm>
            <a:off x="599607" y="449705"/>
            <a:ext cx="8540644" cy="6173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en-US" sz="2800" b="1" i="0" dirty="0">
                <a:solidFill>
                  <a:srgbClr val="242424"/>
                </a:solidFill>
                <a:effectLst/>
                <a:latin typeface="sohne"/>
              </a:rPr>
              <a:t>What is a Voting Classifier?</a:t>
            </a:r>
          </a:p>
          <a:p>
            <a:pPr algn="l">
              <a:lnSpc>
                <a:spcPts val="2400"/>
              </a:lnSpc>
              <a:buNone/>
            </a:pPr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A Voting Classifier is an ensemble learning technique that combines multiple classifiers and predicts the class based on a voting mechanism. This approach enhances model accuracy, reduces overfitting, and makes predictions more robust.</a:t>
            </a:r>
          </a:p>
          <a:p>
            <a:pPr algn="l">
              <a:lnSpc>
                <a:spcPts val="2400"/>
              </a:lnSpc>
              <a:buNone/>
            </a:pPr>
            <a:endParaRPr lang="en-US" sz="2800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>
              <a:lnSpc>
                <a:spcPts val="2400"/>
              </a:lnSpc>
              <a:buNone/>
            </a:pPr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There are two types of voting classifiers:</a:t>
            </a:r>
          </a:p>
          <a:p>
            <a:pPr algn="l">
              <a:lnSpc>
                <a:spcPts val="2400"/>
              </a:lnSpc>
              <a:buNone/>
            </a:pPr>
            <a:endParaRPr lang="en-US" sz="2800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US" sz="2800" b="1" i="0" dirty="0">
                <a:solidFill>
                  <a:srgbClr val="242424"/>
                </a:solidFill>
                <a:effectLst/>
                <a:latin typeface="source-serif-pro"/>
              </a:rPr>
              <a:t>Hard Voting</a:t>
            </a:r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: The final prediction is based on the majority vote of individual classifiers. For instance, if three classifiers predict [Class A, Class B, Class A], the final prediction will be Class A.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endParaRPr lang="en-US" sz="2800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US" sz="2800" b="1" i="0" dirty="0">
                <a:solidFill>
                  <a:srgbClr val="242424"/>
                </a:solidFill>
                <a:effectLst/>
                <a:latin typeface="source-serif-pro"/>
              </a:rPr>
              <a:t>Soft Voting</a:t>
            </a:r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: Instead of counting votes, it averages the predicted probabilities of each classifier and selects the class with the highest probability.</a:t>
            </a:r>
          </a:p>
          <a:p>
            <a:pPr>
              <a:buNone/>
            </a:pPr>
            <a:br>
              <a:rPr lang="en-US" sz="2800" dirty="0"/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016773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5662D6-B1EA-F080-5C9A-3E7B7193DC07}"/>
              </a:ext>
            </a:extLst>
          </p:cNvPr>
          <p:cNvSpPr txBox="1"/>
          <p:nvPr/>
        </p:nvSpPr>
        <p:spPr>
          <a:xfrm>
            <a:off x="287078" y="340243"/>
            <a:ext cx="11483163" cy="283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Why Use Voting Classifiers?</a:t>
            </a:r>
          </a:p>
          <a:p>
            <a:pPr algn="l">
              <a:lnSpc>
                <a:spcPts val="2400"/>
              </a:lnSpc>
              <a:buNone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Voting classifiers improve performance when individual models have different decision boundaries. Here are some key benefits: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Increased Accuracy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: Aggregating diverse models reduces error rates.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Reduced Overfitting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: If individual models overfit, combining them helps in generalization.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Diversity in Predictions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: Different models capture different aspects of the data, leading to better decision-making.</a:t>
            </a:r>
          </a:p>
          <a:p>
            <a:pPr algn="l">
              <a:lnSpc>
                <a:spcPts val="2400"/>
              </a:lnSpc>
              <a:buNone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However, to ensure an effective ensemble: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The base models should be diverse.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Each model should perform reasonably well (accuracy above 50%).</a:t>
            </a:r>
          </a:p>
        </p:txBody>
      </p:sp>
    </p:spTree>
    <p:extLst>
      <p:ext uri="{BB962C8B-B14F-4D97-AF65-F5344CB8AC3E}">
        <p14:creationId xmlns:p14="http://schemas.microsoft.com/office/powerpoint/2010/main" val="2493673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394BBB-1492-1160-E179-4E4F3DC31EFA}"/>
              </a:ext>
            </a:extLst>
          </p:cNvPr>
          <p:cNvSpPr txBox="1"/>
          <p:nvPr/>
        </p:nvSpPr>
        <p:spPr>
          <a:xfrm>
            <a:off x="243590" y="203546"/>
            <a:ext cx="6093500" cy="311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Mathematical Intuition Behind Voting Classifiers</a:t>
            </a:r>
          </a:p>
          <a:p>
            <a:pPr algn="l">
              <a:lnSpc>
                <a:spcPts val="2250"/>
              </a:lnSpc>
              <a:buNone/>
            </a:pPr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Hard Voting</a:t>
            </a:r>
          </a:p>
          <a:p>
            <a:pPr algn="l">
              <a:lnSpc>
                <a:spcPts val="2400"/>
              </a:lnSpc>
              <a:buNone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Consider three models M1,M2,M3 M_1, M_2, M_3 predicting a binary classification problem (Class 0 or Class 1). The votes are:</a:t>
            </a:r>
          </a:p>
          <a:p>
            <a:pPr algn="l">
              <a:lnSpc>
                <a:spcPts val="2400"/>
              </a:lnSpc>
              <a:buNone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M1=0,M2=1,M3=0 M_1 = 0, \quad M_2 = 1, \quad M_3 = 0</a:t>
            </a:r>
          </a:p>
          <a:p>
            <a:pPr algn="l">
              <a:lnSpc>
                <a:spcPts val="2400"/>
              </a:lnSpc>
              <a:buNone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Since Class 0 has the majority vote, the final prediction is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Class 0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.</a:t>
            </a:r>
          </a:p>
          <a:p>
            <a:pPr algn="l">
              <a:lnSpc>
                <a:spcPts val="2250"/>
              </a:lnSpc>
              <a:buNone/>
            </a:pPr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Soft Voting</a:t>
            </a:r>
          </a:p>
          <a:p>
            <a:pPr algn="l">
              <a:lnSpc>
                <a:spcPts val="2400"/>
              </a:lnSpc>
              <a:buNone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Instead of discrete votes, we take the average probability of each class: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B001E3-0AB1-E956-AB2C-C5B5475C4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243" y="3538859"/>
            <a:ext cx="3943350" cy="20478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B14AB0-5ACE-8889-3083-9778BCBA8E21}"/>
              </a:ext>
            </a:extLst>
          </p:cNvPr>
          <p:cNvSpPr txBox="1"/>
          <p:nvPr/>
        </p:nvSpPr>
        <p:spPr>
          <a:xfrm>
            <a:off x="5520128" y="4106428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If P(0)&gt;P(1), predict Class 0, otherwise predict Class 1.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7548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4A715B-43B2-8F3F-FF6B-CC97B4C83CF1}"/>
              </a:ext>
            </a:extLst>
          </p:cNvPr>
          <p:cNvSpPr txBox="1"/>
          <p:nvPr/>
        </p:nvSpPr>
        <p:spPr>
          <a:xfrm>
            <a:off x="299803" y="1004341"/>
            <a:ext cx="10972800" cy="528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When to Use Voting Classifiers?</a:t>
            </a:r>
          </a:p>
          <a:p>
            <a:pPr algn="l">
              <a:lnSpc>
                <a:spcPts val="2400"/>
              </a:lnSpc>
              <a:buNone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Voting Classifiers work best when: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You have diverse models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: Combining different algorithms improves learning.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Models have similar performance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: If one model is much stronger, it may dominate voting.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Reducing Overfitting is important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: Combining models makes predictions more robust.</a:t>
            </a:r>
          </a:p>
          <a:p>
            <a:pPr algn="l">
              <a:lnSpc>
                <a:spcPts val="2400"/>
              </a:lnSpc>
              <a:buNone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However, if: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A single model consistently outperforms others, using an ensemble may not help.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The dataset is small, the computational cost may not justify ensemble methods.</a:t>
            </a:r>
          </a:p>
          <a:p>
            <a:pPr algn="l">
              <a:lnSpc>
                <a:spcPts val="2250"/>
              </a:lnSpc>
              <a:buNone/>
            </a:pPr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Conclusion</a:t>
            </a:r>
          </a:p>
          <a:p>
            <a:pPr algn="l">
              <a:lnSpc>
                <a:spcPts val="2400"/>
              </a:lnSpc>
              <a:buNone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Voting Classifiers are a powerful ensemble method that combines multiple models to enhance performance. By leveraging both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Hard Voting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and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Soft Voting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, they offer a balance between diversity and accuracy. In this class, we: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Explored the intuition behind Voting Classifiers.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Understood the mathematical foundations.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w</a:t>
            </a:r>
            <a:r>
              <a:rPr lang="en-US" dirty="0" err="1">
                <a:solidFill>
                  <a:srgbClr val="242424"/>
                </a:solidFill>
                <a:latin typeface="source-serif-pro"/>
              </a:rPr>
              <a:t>Implemented</a:t>
            </a:r>
            <a:r>
              <a:rPr lang="en-US" dirty="0">
                <a:solidFill>
                  <a:srgbClr val="242424"/>
                </a:solidFill>
                <a:latin typeface="source-serif-pro"/>
              </a:rPr>
              <a:t> them in Python.</a:t>
            </a:r>
          </a:p>
          <a:p>
            <a:pPr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42424"/>
                </a:solidFill>
                <a:latin typeface="source-serif-pro"/>
              </a:rPr>
              <a:t>Compared their performance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ith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 individual models.</a:t>
            </a:r>
          </a:p>
          <a:p>
            <a:pPr algn="l">
              <a:lnSpc>
                <a:spcPts val="2400"/>
              </a:lnSpc>
              <a:buNone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If you’re working on a classification problem,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Voting Classifiers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are worth considering for improved accuracy and robustness. 🚀</a:t>
            </a:r>
          </a:p>
        </p:txBody>
      </p:sp>
    </p:spTree>
    <p:extLst>
      <p:ext uri="{BB962C8B-B14F-4D97-AF65-F5344CB8AC3E}">
        <p14:creationId xmlns:p14="http://schemas.microsoft.com/office/powerpoint/2010/main" val="3948838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745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586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494</Words>
  <Application>Microsoft Office PowerPoint</Application>
  <PresentationFormat>Widescreen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sohne</vt:lpstr>
      <vt:lpstr>source-serif-pro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Upadhyay</dc:creator>
  <cp:lastModifiedBy>Admin</cp:lastModifiedBy>
  <cp:revision>2</cp:revision>
  <dcterms:created xsi:type="dcterms:W3CDTF">2026-04-14T09:07:01Z</dcterms:created>
  <dcterms:modified xsi:type="dcterms:W3CDTF">2026-04-16T10:13:39Z</dcterms:modified>
</cp:coreProperties>
</file>